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rkinsans Bold"/>
      <p:regular r:id="rId201314"/>
    </p:embeddedFont>
    <p:embeddedFont>
      <p:font typeface="Reddit Mono Medium"/>
      <p:regular r:id="rId201315"/>
    </p:embeddedFont>
    <p:embeddedFont>
      <p:font typeface="Reddit Sans"/>
      <p:regular r:id="rId201316"/>
    </p:embeddedFont>
    <p:embeddedFont>
      <p:font typeface="Reddit Sans Medium"/>
      <p:regular r:id="rId201317"/>
    </p:embeddedFont>
    <p:embeddedFont>
      <p:font typeface="Reddit Sans SemiBold"/>
      <p:regular r:id="rId201318"/>
    </p:embeddedFont>
    <p:embeddedFont>
      <p:font typeface="Reddi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Team 18 built a ServiceNow Flow Designer workflow that classifies school IT tickets and notifies callers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outcome: a new school IT ticket can move from short description to structured Category and Subcategory with less manual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in three parts: what it must achieve, what it automates after classification, and the maintainable foundation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workflow depends on one consistent structure: identity, classification, ticket text, and ownership fields all live in the Incident WorkFlow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dependent choice logic keeps the second selection aligned with the first: each Category exposes its corresponding Subcategory.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trigger is deliberately narrow: the flow runs when a record is created and Category is empty, then checks the short description, updates the record, and sends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examples show the routing pattern. Once the record is updated, the caller receives confirmation at Caller →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two supplied tests to demonstrate that different short descriptions follow the same classification path and produce the expected field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implementation story with the Update Set: complete it, save and export it to XML, then retain the XML for sharing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Reiterate that the project demonstrates a maintainable ServiceNow workflow for classification and automatic caller notification.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DD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Shape 1"/>
          <p:cNvSpPr/>
          <p:nvPr/>
        </p:nvSpPr>
        <p:spPr>
          <a:xfrm>
            <a:off x="711182" y="711200"/>
            <a:ext cx="2369781" cy="254000"/>
          </a:xfrm>
          <a:prstGeom prst="roundRect">
            <a:avLst>
              <a:gd name="adj" fmla="val 49999"/>
            </a:avLst>
          </a:prstGeom>
          <a:solidFill>
            <a:srgbClr val="FF842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755650"/>
            <a:ext cx="272537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spc="26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SERVICE NOW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447502"/>
            <a:ext cx="6095848" cy="290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Auto Ticket</a:t>
            </a:r>
            <a:endParaRPr lang="en-US" sz="5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Classification</a:t>
            </a:r>
            <a:endParaRPr lang="en-US" sz="5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600" b="1" spc="-112" kern="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using Flow Designer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11182" y="4552255"/>
            <a:ext cx="6095848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ServiceNow Automation Project · Team 18 · Velammal Institute of Technology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1182" y="6146899"/>
            <a:ext cx="6095848" cy="101600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5710039"/>
            <a:ext cx="60958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Saadhika K G · Nivetha M · Blessey Kiruba B · Harisha S · and Team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399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02 /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543040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School IT tickets can classify themselves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951930"/>
            <a:ext cx="1791846" cy="38100"/>
          </a:xfrm>
          <a:prstGeom prst="roundRect">
            <a:avLst>
              <a:gd name="adj" fmla="val 49999"/>
            </a:avLst>
          </a:prstGeom>
          <a:solidFill>
            <a:srgbClr val="1F4FE0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24980"/>
            <a:ext cx="5430404" cy="180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ServiceNow Flow Designer automates classification of school IT helpdesk tickets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new ticket receives a Category and dependent Subcategory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result is structured ticket information with less manual handling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03 / PROJECT SHAPE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The project turns a manual task into a repeatable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13470"/>
            <a:ext cx="3454314" cy="3713559"/>
          </a:xfrm>
          <a:prstGeom prst="roundRect">
            <a:avLst>
              <a:gd name="adj" fmla="val 5294"/>
            </a:avLst>
          </a:prstGeom>
          <a:noFill/>
          <a:ln w="25399">
            <a:solidFill>
              <a:srgbClr val="B8C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3578" y="1667470"/>
            <a:ext cx="609585" cy="609600"/>
          </a:xfrm>
          <a:prstGeom prst="ellipse">
            <a:avLst/>
          </a:prstGeom>
          <a:solidFill>
            <a:srgbClr val="D2DC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1819870"/>
            <a:ext cx="304792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2397720"/>
            <a:ext cx="294632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578" y="2824361"/>
            <a:ext cx="2946326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Classify tickets automatically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; assign Category and Subcategory; implement dependent choice logic.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8691" y="1413470"/>
            <a:ext cx="3454314" cy="3713559"/>
          </a:xfrm>
          <a:prstGeom prst="roundRect">
            <a:avLst>
              <a:gd name="adj" fmla="val 5294"/>
            </a:avLst>
          </a:prstGeom>
          <a:noFill/>
          <a:ln w="25399">
            <a:solidFill>
              <a:srgbClr val="B8C2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2684" y="1667470"/>
            <a:ext cx="609585" cy="609600"/>
          </a:xfrm>
          <a:prstGeom prst="ellipse">
            <a:avLst/>
          </a:prstGeom>
          <a:solidFill>
            <a:srgbClr val="D2DC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081" y="1819870"/>
            <a:ext cx="304792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2684" y="2397720"/>
            <a:ext cx="294632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22684" y="2824361"/>
            <a:ext cx="29463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Send an email notification after classification.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27797" y="1413470"/>
            <a:ext cx="3454314" cy="3713559"/>
          </a:xfrm>
          <a:prstGeom prst="roundRect">
            <a:avLst>
              <a:gd name="adj" fmla="val 5294"/>
            </a:avLst>
          </a:prstGeom>
          <a:noFill/>
          <a:ln w="25399">
            <a:solidFill>
              <a:srgbClr val="B8C2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1790" y="1667470"/>
            <a:ext cx="609585" cy="609600"/>
          </a:xfrm>
          <a:prstGeom prst="ellipse">
            <a:avLst/>
          </a:prstGeom>
          <a:solidFill>
            <a:srgbClr val="D2DC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1819870"/>
            <a:ext cx="304792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1790" y="2397720"/>
            <a:ext cx="294632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1790" y="2824361"/>
            <a:ext cx="294632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 a maintainable, scalable workflow and a structured custom table.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09585" y="5304830"/>
            <a:ext cx="10972526" cy="943570"/>
          </a:xfrm>
          <a:prstGeom prst="rect">
            <a:avLst/>
          </a:prstGeom>
          <a:solidFill>
            <a:srgbClr val="EEF2FD"/>
          </a:solidFill>
          <a:ln/>
        </p:spPr>
      </p:sp>
      <p:sp>
        <p:nvSpPr>
          <p:cNvPr id="20" name="Text 15"/>
          <p:cNvSpPr/>
          <p:nvPr/>
        </p:nvSpPr>
        <p:spPr>
          <a:xfrm>
            <a:off x="838179" y="5482630"/>
            <a:ext cx="1074393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8179" y="5786140"/>
            <a:ext cx="1074393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ServiceNow · Flow Designer · Update Sets · Custom Table · Email Notification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04 /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Incident WorkFlow stores every ticket in one structure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13470"/>
          <a:ext cx="10972526" cy="914400"/>
        </p:xfrm>
        <a:graphic>
          <a:graphicData uri="http://schemas.openxmlformats.org/drawingml/2006/table">
            <a:tbl>
              <a:tblPr/>
              <a:tblGrid>
                <a:gridCol w="6583496"/>
                <a:gridCol w="4389030"/>
              </a:tblGrid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Field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Type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Number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Auto Number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Caller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Reference sys_user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Category / Subcategory / State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Choice fields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Short Description / Description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String fields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Assigned Group / Assigned to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Reference sys_user_group / sys_user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529931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37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Planning covers the custom table, dependent choices, flow conditions, notification, testing, and deployment through an Update Set.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05 / DEPENDENT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Category drives the available subcategory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9670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Subcategory is dependent on Category, so the selection stays consistent.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79811"/>
          <a:ext cx="10972526" cy="914400"/>
        </p:xfrm>
        <a:graphic>
          <a:graphicData uri="http://schemas.openxmlformats.org/drawingml/2006/table">
            <a:tbl>
              <a:tblPr/>
              <a:tblGrid>
                <a:gridCol w="5486263"/>
                <a:gridCol w="5486263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Category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F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Subcategory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Network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Wi-Fi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Hardware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Projector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Access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Forgot Password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Performance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Slow Computer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06 / FLOW DESIGNER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The flow starts only when classification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38870"/>
            <a:ext cx="3555911" cy="1177230"/>
          </a:xfrm>
          <a:prstGeom prst="rect">
            <a:avLst/>
          </a:prstGeom>
          <a:solidFill>
            <a:srgbClr val="EEF2FD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591270"/>
            <a:ext cx="335271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80" y="1894780"/>
            <a:ext cx="335271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Auto Classify School IT Tickets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7892" y="1438870"/>
            <a:ext cx="3555911" cy="1177230"/>
          </a:xfrm>
          <a:prstGeom prst="rect">
            <a:avLst/>
          </a:prstGeom>
          <a:solidFill>
            <a:srgbClr val="EEF2FD"/>
          </a:solidFill>
          <a:ln/>
        </p:spPr>
      </p:sp>
      <p:sp>
        <p:nvSpPr>
          <p:cNvPr id="8" name="Text 6"/>
          <p:cNvSpPr/>
          <p:nvPr/>
        </p:nvSpPr>
        <p:spPr>
          <a:xfrm>
            <a:off x="4521087" y="1591270"/>
            <a:ext cx="335271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TRIGGER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1087" y="1894780"/>
            <a:ext cx="31495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Record Created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on the Incident WorkFlow 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6199" y="1438870"/>
            <a:ext cx="3555911" cy="1177230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394" y="1591270"/>
            <a:ext cx="335271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394" y="1894780"/>
            <a:ext cx="335271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Category is Empty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3709491"/>
            <a:ext cx="10972526" cy="28575"/>
          </a:xfrm>
          <a:prstGeom prst="roundRect">
            <a:avLst>
              <a:gd name="adj" fmla="val 49999"/>
            </a:avLst>
          </a:prstGeom>
          <a:solidFill>
            <a:srgbClr val="B8C2DF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9321" y="3303091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77410" y="3633291"/>
            <a:ext cx="152396" cy="1524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30" y="2819301"/>
            <a:ext cx="308175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Record Created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10441" y="3709491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48530" y="3633291"/>
            <a:ext cx="152396" cy="1524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19" name="Text 17"/>
          <p:cNvSpPr/>
          <p:nvPr/>
        </p:nvSpPr>
        <p:spPr>
          <a:xfrm>
            <a:off x="2683800" y="4319091"/>
            <a:ext cx="308185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Check Short Description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81461" y="3303091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19550" y="3633291"/>
            <a:ext cx="152396" cy="1524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2" name="Text 20"/>
          <p:cNvSpPr/>
          <p:nvPr/>
        </p:nvSpPr>
        <p:spPr>
          <a:xfrm>
            <a:off x="4554870" y="2819301"/>
            <a:ext cx="308175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Classify Ticket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52581" y="3709491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  <a:ln/>
        </p:spPr>
      </p:sp>
      <p:sp>
        <p:nvSpPr>
          <p:cNvPr id="24" name="Shape 22"/>
          <p:cNvSpPr/>
          <p:nvPr/>
        </p:nvSpPr>
        <p:spPr>
          <a:xfrm>
            <a:off x="7890670" y="3633291"/>
            <a:ext cx="152396" cy="1524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5" name="Text 23"/>
          <p:cNvSpPr/>
          <p:nvPr/>
        </p:nvSpPr>
        <p:spPr>
          <a:xfrm>
            <a:off x="6425990" y="4319091"/>
            <a:ext cx="308175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Update Record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823700" y="3303091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  <a:ln/>
        </p:spPr>
      </p:sp>
      <p:sp>
        <p:nvSpPr>
          <p:cNvPr id="27" name="Shape 25"/>
          <p:cNvSpPr/>
          <p:nvPr/>
        </p:nvSpPr>
        <p:spPr>
          <a:xfrm>
            <a:off x="9761789" y="3633291"/>
            <a:ext cx="152396" cy="152400"/>
          </a:xfrm>
          <a:prstGeom prst="ellipse">
            <a:avLst/>
          </a:prstGeom>
          <a:solidFill>
            <a:srgbClr val="1F4FE0"/>
          </a:solidFill>
          <a:ln/>
        </p:spPr>
      </p:sp>
      <p:sp>
        <p:nvSpPr>
          <p:cNvPr id="28" name="Text 26"/>
          <p:cNvSpPr/>
          <p:nvPr/>
        </p:nvSpPr>
        <p:spPr>
          <a:xfrm>
            <a:off x="8297060" y="2819301"/>
            <a:ext cx="308185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-122"/>
                <a:cs typeface="Reddit Sans Bold" pitchFamily="34" charset="-120"/>
              </a:rPr>
              <a:t>Send Email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07 / CLASSIFICATION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Short descriptions route tickets to the right pair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18270"/>
          <a:ext cx="6400640" cy="914400"/>
        </p:xfrm>
        <a:graphic>
          <a:graphicData uri="http://schemas.openxmlformats.org/drawingml/2006/table">
            <a:tbl>
              <a:tblPr/>
              <a:tblGrid>
                <a:gridCol w="2688265"/>
                <a:gridCol w="3712375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Short description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Category → Subcategory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Wi-Fi / Network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Network → Wi-Fi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Projector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Hardware → Projector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Forgot password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Access → Forgot Password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Slow Computer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Performance → Slow Computer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4918" y="1489670"/>
            <a:ext cx="4267192" cy="2742902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6" name="Text 3"/>
          <p:cNvSpPr/>
          <p:nvPr/>
        </p:nvSpPr>
        <p:spPr>
          <a:xfrm>
            <a:off x="7568911" y="1718270"/>
            <a:ext cx="401319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AFTER UPDATE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68911" y="1983680"/>
            <a:ext cx="375920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Send Email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68911" y="2443361"/>
            <a:ext cx="37592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Confirms submission to the caller at Caller → Email.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68911" y="3132931"/>
            <a:ext cx="375920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Subject: “Your Request for the issue has been submitted.”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08 /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Two tests validate the classification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9670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test follows the same path: ticket created → Category checked → Short Description evaluated → fields assigned → confirmation email sent.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10991"/>
          <a:ext cx="10972526" cy="914400"/>
        </p:xfrm>
        <a:graphic>
          <a:graphicData uri="http://schemas.openxmlformats.org/drawingml/2006/table">
            <a:tbl>
              <a:tblPr/>
              <a:tblGrid>
                <a:gridCol w="1316671"/>
                <a:gridCol w="4608449"/>
                <a:gridCol w="2523653"/>
                <a:gridCol w="2523753"/>
              </a:tblGrid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Test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Input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Category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Subcategory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WiFi not working in library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Network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Wi-Fi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Projector not turning on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Hardware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01A3A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Projector</a:t>
                      </a:r>
                      <a:endParaRPr lang="en-US" sz="160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3902571"/>
            <a:ext cx="101598" cy="89277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7" name="Text 4"/>
          <p:cNvSpPr/>
          <p:nvPr/>
        </p:nvSpPr>
        <p:spPr>
          <a:xfrm>
            <a:off x="939776" y="4054971"/>
            <a:ext cx="500367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9776" y="4358481"/>
            <a:ext cx="500367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Ticket created with a short description.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8244" y="3902571"/>
            <a:ext cx="101598" cy="892770"/>
          </a:xfrm>
          <a:prstGeom prst="rect">
            <a:avLst/>
          </a:prstGeom>
          <a:solidFill>
            <a:srgbClr val="12813B"/>
          </a:solidFill>
          <a:ln/>
        </p:spPr>
      </p:sp>
      <p:sp>
        <p:nvSpPr>
          <p:cNvPr id="10" name="Text 7"/>
          <p:cNvSpPr/>
          <p:nvPr/>
        </p:nvSpPr>
        <p:spPr>
          <a:xfrm>
            <a:off x="6578435" y="4054971"/>
            <a:ext cx="500367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78435" y="4358481"/>
            <a:ext cx="500367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Fields assigned and confirmation email sent.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9188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4A5372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09 /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5010"/>
            <a:ext cx="630926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45" kern="100" dirty="0">
                <a:solidFill>
                  <a:srgbClr val="101A3A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Deployment keeps the workflow shareable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01130"/>
            <a:ext cx="82002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185591"/>
            <a:ext cx="18998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326481"/>
            <a:ext cx="1899892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Complete the Project Update 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814269" y="1901130"/>
            <a:ext cx="8585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14269" y="2185591"/>
            <a:ext cx="18998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9" name="Text 7"/>
          <p:cNvSpPr/>
          <p:nvPr/>
        </p:nvSpPr>
        <p:spPr>
          <a:xfrm>
            <a:off x="2814269" y="2326481"/>
            <a:ext cx="1899892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Save it and export it to XML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18954" y="1901130"/>
            <a:ext cx="8579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18954" y="2185591"/>
            <a:ext cx="1899892" cy="1905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8954" y="2326481"/>
            <a:ext cx="1899892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01A3A"/>
                </a:solidFill>
                <a:latin typeface="Reddit Sans Medium" pitchFamily="34" charset="0"/>
                <a:ea typeface="Reddit Sans Medium" pitchFamily="34" charset="-122"/>
                <a:cs typeface="Reddit Sans Medium" pitchFamily="34" charset="-120"/>
              </a:rPr>
              <a:t>Retain the XML for project sharing and deployment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33124" y="0"/>
            <a:ext cx="4358571" cy="6858000"/>
          </a:xfrm>
          <a:prstGeom prst="rect">
            <a:avLst/>
          </a:prstGeom>
          <a:solidFill>
            <a:srgbClr val="EE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8137917" y="2229545"/>
            <a:ext cx="405377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4" kern="100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-122"/>
                <a:cs typeface="Reddit Mono Medium" pitchFamily="34" charset="-120"/>
              </a:rPr>
              <a:t>PROJECT VALUE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917" y="2535634"/>
            <a:ext cx="406390" cy="4064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747501" y="2596555"/>
            <a:ext cx="31394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Automated classification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917" y="2972495"/>
            <a:ext cx="406390" cy="406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747501" y="3033415"/>
            <a:ext cx="31394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Reduced manual effort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917" y="3409355"/>
            <a:ext cx="406390" cy="406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47501" y="3470275"/>
            <a:ext cx="31394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Structured ticket information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917" y="3846215"/>
            <a:ext cx="406390" cy="406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47501" y="3907135"/>
            <a:ext cx="31394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Automatic email notification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747501" y="4343995"/>
            <a:ext cx="313940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Maintainable workflow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1840210"/>
            <a:ext cx="6045049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44" kern="100" dirty="0">
                <a:solidFill>
                  <a:srgbClr val="FFFFFF"/>
                </a:solidFill>
                <a:latin typeface="Parkinsans Bold" pitchFamily="34" charset="0"/>
                <a:ea typeface="Parkinsans Bold" pitchFamily="34" charset="-122"/>
                <a:cs typeface="Parkinsans Bol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11182" y="3001466"/>
            <a:ext cx="6045049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project demonstrates a maintainable ServiceNow workflow for classifying school IT tickets and notifying callers automatically.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11182" y="5580558"/>
            <a:ext cx="6045049" cy="101600"/>
          </a:xfrm>
          <a:prstGeom prst="rect">
            <a:avLst/>
          </a:prstGeom>
          <a:solidFill>
            <a:srgbClr val="FF8420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5143698"/>
            <a:ext cx="604504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Team 18 · Velammal Institute of Technology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182" y="5910759"/>
            <a:ext cx="6603835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F4FE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2026-10-02T15:11:46Z</dcterms:created>
  <dcterms:modified xsi:type="dcterms:W3CDTF">2026-10-02T15:11:46Z</dcterms:modified>
</cp:coreProperties>
</file>